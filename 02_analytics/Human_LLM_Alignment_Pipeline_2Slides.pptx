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Cake</c:v>
                  </c:pt>
                  <c:pt idx="1">
                    <c:v>Apple</c:v>
                  </c:pt>
                  <c:pt idx="2">
                    <c:v>Ball</c:v>
                  </c:pt>
                  <c:pt idx="3">
                    <c:v>Book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0.72</c:v>
                </c:pt>
                <c:pt idx="1">
                  <c:v>0.15</c:v>
                </c:pt>
                <c:pt idx="2">
                  <c:v>0.08</c:v>
                </c:pt>
                <c:pt idx="3">
                  <c:v>0.05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LLM</c:v>
                </c:pt>
              </c:strCache>
            </c:strRef>
          </c:tx>
          <c:spPr>
            <a:solidFill>
              <a:srgbClr val="EC48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750" u="none">
                    <a:solidFill>
                      <a:srgbClr val="1F29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C489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Cake</c:v>
                  </c:pt>
                  <c:pt idx="1">
                    <c:v>Apple</c:v>
                  </c:pt>
                  <c:pt idx="2">
                    <c:v>Ball</c:v>
                  </c:pt>
                  <c:pt idx="3">
                    <c:v>Book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</c:v>
                </c:pt>
                <c:pt idx="1">
                  <c:v>0.12</c:v>
                </c:pt>
                <c:pt idx="2">
                  <c:v>0.05</c:v>
                </c:pt>
                <c:pt idx="3">
                  <c:v>0.03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750" u="none">
                  <a:solidFill>
                    <a:srgbClr val="1F29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Human target prob.</c:v>
                </c:pt>
              </c:strCache>
            </c:strRef>
          </c:tx>
          <c:spPr>
            <a:solidFill>
              <a:srgbClr val="EC4899"/>
            </a:solidFill>
            <a:ln w="28575" cap="flat">
              <a:solidFill>
                <a:srgbClr val="EC48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C4899"/>
              </a:solidFill>
              <a:ln w="9525" cap="flat">
                <a:solidFill>
                  <a:srgbClr val="EC48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-200</c:v>
                  </c:pt>
                  <c:pt idx="1">
                    <c:v>-100</c:v>
                  </c:pt>
                  <c:pt idx="2">
                    <c:v>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300</c:v>
                  </c:pt>
                  <c:pt idx="6">
                    <c:v>400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0.05</c:v>
                </c:pt>
                <c:pt idx="1">
                  <c:v>0.12</c:v>
                </c:pt>
                <c:pt idx="2">
                  <c:v>0.22</c:v>
                </c:pt>
                <c:pt idx="3">
                  <c:v>0.35</c:v>
                </c:pt>
                <c:pt idx="4">
                  <c:v>0.5</c:v>
                </c:pt>
                <c:pt idx="5">
                  <c:v>0.65</c:v>
                </c:pt>
                <c:pt idx="6">
                  <c:v>0.78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LLM surprisal (scaled)</c:v>
                </c:pt>
              </c:strCache>
            </c:strRef>
          </c:tx>
          <c:spPr>
            <a:solidFill>
              <a:srgbClr val="F97316"/>
            </a:solidFill>
            <a:ln w="28575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-200</c:v>
                  </c:pt>
                  <c:pt idx="1">
                    <c:v>-100</c:v>
                  </c:pt>
                  <c:pt idx="2">
                    <c:v>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300</c:v>
                  </c:pt>
                  <c:pt idx="6">
                    <c:v>400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0.87</c:v>
                </c:pt>
                <c:pt idx="1">
                  <c:v>0.77</c:v>
                </c:pt>
                <c:pt idx="2">
                  <c:v>0.67</c:v>
                </c:pt>
                <c:pt idx="3">
                  <c:v>0.63</c:v>
                </c:pt>
                <c:pt idx="4">
                  <c:v>0.57</c:v>
                </c:pt>
                <c:pt idx="5">
                  <c:v>0.5</c:v>
                </c:pt>
                <c:pt idx="6">
                  <c:v>0.43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5" Type="http://schemas.openxmlformats.org/officeDocument/2006/relationships/chart" Target="/ppt/charts/chart2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Human–LLM Alignment Analysis Pipeline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" y="6217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of 2 · Preparing and modeling anticipatory-gaze data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50148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11521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42416" y="1124712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8368" y="1572768"/>
            <a:ext cx="41298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blinks and invalid samples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gaze coordinates to Areas of Interest (AOIs)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128" y="1645920"/>
            <a:ext cx="384048" cy="38404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327752" y="1764792"/>
            <a:ext cx="256032" cy="146304"/>
          </a:xfrm>
          <a:prstGeom prst="rightArrow">
            <a:avLst/>
          </a:prstGeom>
          <a:solidFill>
            <a:srgbClr val="2563EB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648" y="164592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8368" y="2148840"/>
            <a:ext cx="5099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Hz raw gaze → AOI-mapped fixations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658368" y="3310128"/>
            <a:ext cx="54864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3282696"/>
            <a:ext cx="491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gaze data mapped to AOIs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233008" y="1005840"/>
            <a:ext cx="550148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6397600" y="1152144"/>
            <a:ext cx="329184" cy="32918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9" name="Text 14"/>
          <p:cNvSpPr/>
          <p:nvPr/>
        </p:nvSpPr>
        <p:spPr>
          <a:xfrm>
            <a:off x="639760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818224" y="1124712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Alignment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6434176" y="1572768"/>
            <a:ext cx="5099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gaze data with spoken words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prediction window: Verb Offset → Noun Onset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434176" y="2304288"/>
            <a:ext cx="804139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434176" y="2304288"/>
            <a:ext cx="8041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850" dirty="0"/>
          </a:p>
        </p:txBody>
      </p:sp>
      <p:sp>
        <p:nvSpPr>
          <p:cNvPr id="24" name="Shape 19"/>
          <p:cNvSpPr/>
          <p:nvPr/>
        </p:nvSpPr>
        <p:spPr>
          <a:xfrm>
            <a:off x="7293178" y="2304288"/>
            <a:ext cx="804139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293178" y="2304288"/>
            <a:ext cx="8041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boy</a:t>
            </a:r>
            <a:endParaRPr lang="en-US" sz="850" dirty="0"/>
          </a:p>
        </p:txBody>
      </p:sp>
      <p:sp>
        <p:nvSpPr>
          <p:cNvPr id="26" name="Shape 21"/>
          <p:cNvSpPr/>
          <p:nvPr/>
        </p:nvSpPr>
        <p:spPr>
          <a:xfrm>
            <a:off x="8152181" y="2304288"/>
            <a:ext cx="804139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152181" y="2304288"/>
            <a:ext cx="8041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9011183" y="2304288"/>
            <a:ext cx="804139" cy="310896"/>
          </a:xfrm>
          <a:prstGeom prst="roundRect">
            <a:avLst>
              <a:gd name="adj" fmla="val 11765"/>
            </a:avLst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9011183" y="2304288"/>
            <a:ext cx="8041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</a:t>
            </a:r>
            <a:endParaRPr lang="en-US" sz="850" dirty="0"/>
          </a:p>
        </p:txBody>
      </p:sp>
      <p:sp>
        <p:nvSpPr>
          <p:cNvPr id="30" name="Shape 25"/>
          <p:cNvSpPr/>
          <p:nvPr/>
        </p:nvSpPr>
        <p:spPr>
          <a:xfrm>
            <a:off x="9870186" y="2304288"/>
            <a:ext cx="804139" cy="310896"/>
          </a:xfrm>
          <a:prstGeom prst="roundRect">
            <a:avLst>
              <a:gd name="adj" fmla="val 1176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9870186" y="2304288"/>
            <a:ext cx="8041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10729189" y="2304288"/>
            <a:ext cx="804139" cy="310896"/>
          </a:xfrm>
          <a:prstGeom prst="roundRect">
            <a:avLst>
              <a:gd name="adj" fmla="val 11765"/>
            </a:avLst>
          </a:prstGeom>
          <a:solidFill>
            <a:srgbClr val="7C3AED"/>
          </a:solidFill>
          <a:ln w="9525">
            <a:solidFill>
              <a:srgbClr val="7C3AED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0729189" y="2304288"/>
            <a:ext cx="80413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</a:t>
            </a:r>
            <a:endParaRPr lang="en-US" sz="850" dirty="0"/>
          </a:p>
        </p:txBody>
      </p:sp>
      <p:sp>
        <p:nvSpPr>
          <p:cNvPr id="34" name="Shape 29"/>
          <p:cNvSpPr/>
          <p:nvPr/>
        </p:nvSpPr>
        <p:spPr>
          <a:xfrm>
            <a:off x="6434176" y="2871216"/>
            <a:ext cx="500771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9011183" y="2743200"/>
            <a:ext cx="0" cy="256032"/>
          </a:xfrm>
          <a:prstGeom prst="line">
            <a:avLst/>
          </a:prstGeom>
          <a:noFill/>
          <a:ln w="12700">
            <a:solidFill>
              <a:srgbClr val="DC2626"/>
            </a:solidFill>
            <a:prstDash val="dash"/>
          </a:ln>
        </p:spPr>
      </p:sp>
      <p:sp>
        <p:nvSpPr>
          <p:cNvPr id="36" name="Shape 31"/>
          <p:cNvSpPr/>
          <p:nvPr/>
        </p:nvSpPr>
        <p:spPr>
          <a:xfrm>
            <a:off x="10970430" y="2743200"/>
            <a:ext cx="0" cy="256032"/>
          </a:xfrm>
          <a:prstGeom prst="line">
            <a:avLst/>
          </a:prstGeom>
          <a:noFill/>
          <a:ln w="12700">
            <a:solidFill>
              <a:srgbClr val="7C3AED"/>
            </a:solidFill>
            <a:prstDash val="dash"/>
          </a:ln>
        </p:spPr>
      </p:sp>
      <p:sp>
        <p:nvSpPr>
          <p:cNvPr id="37" name="Shape 32"/>
          <p:cNvSpPr/>
          <p:nvPr/>
        </p:nvSpPr>
        <p:spPr>
          <a:xfrm>
            <a:off x="9011183" y="3035808"/>
            <a:ext cx="1959247" cy="0"/>
          </a:xfrm>
          <a:prstGeom prst="line">
            <a:avLst/>
          </a:prstGeom>
          <a:noFill/>
          <a:ln w="22225">
            <a:solidFill>
              <a:srgbClr val="16A34A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9011183" y="3090672"/>
            <a:ext cx="19592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WINDOW</a:t>
            </a:r>
            <a:endParaRPr lang="en-US" sz="750" dirty="0"/>
          </a:p>
        </p:txBody>
      </p:sp>
      <p:sp>
        <p:nvSpPr>
          <p:cNvPr id="39" name="Shape 34"/>
          <p:cNvSpPr/>
          <p:nvPr/>
        </p:nvSpPr>
        <p:spPr>
          <a:xfrm>
            <a:off x="6434176" y="3310128"/>
            <a:ext cx="54864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0" name="Text 35"/>
          <p:cNvSpPr/>
          <p:nvPr/>
        </p:nvSpPr>
        <p:spPr>
          <a:xfrm>
            <a:off x="6598768" y="3282696"/>
            <a:ext cx="491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Time-aligned gaze data in the prediction window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457200" y="3931920"/>
            <a:ext cx="550148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42" name="Shape 37"/>
          <p:cNvSpPr/>
          <p:nvPr/>
        </p:nvSpPr>
        <p:spPr>
          <a:xfrm>
            <a:off x="621792" y="4078224"/>
            <a:ext cx="329184" cy="329184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3" name="Text 38"/>
          <p:cNvSpPr/>
          <p:nvPr/>
        </p:nvSpPr>
        <p:spPr>
          <a:xfrm>
            <a:off x="621792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39"/>
          <p:cNvSpPr/>
          <p:nvPr/>
        </p:nvSpPr>
        <p:spPr>
          <a:xfrm>
            <a:off x="1042416" y="4050792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Probability Distribution</a:t>
            </a:r>
            <a:endParaRPr lang="en-US" sz="1450" dirty="0"/>
          </a:p>
        </p:txBody>
      </p:sp>
      <p:sp>
        <p:nvSpPr>
          <p:cNvPr id="45" name="Text 40"/>
          <p:cNvSpPr/>
          <p:nvPr/>
        </p:nvSpPr>
        <p:spPr>
          <a:xfrm>
            <a:off x="658368" y="4498848"/>
            <a:ext cx="242065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gaze samples per AOI within the window; convert to probabilities</a:t>
            </a:r>
            <a:endParaRPr lang="en-US" sz="950" dirty="0"/>
          </a:p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participants → expected human distribution</a:t>
            </a:r>
            <a:endParaRPr lang="en-US" sz="950" dirty="0"/>
          </a:p>
        </p:txBody>
      </p:sp>
      <p:graphicFrame>
        <p:nvGraphicFramePr>
          <p:cNvPr id="46" name="Chart 0" descr=""/>
          <p:cNvGraphicFramePr/>
          <p:nvPr/>
        </p:nvGraphicFramePr>
        <p:xfrm>
          <a:off x="2987884" y="4434840"/>
          <a:ext cx="2860774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7" name="Shape 41"/>
          <p:cNvSpPr/>
          <p:nvPr/>
        </p:nvSpPr>
        <p:spPr>
          <a:xfrm>
            <a:off x="658368" y="6236208"/>
            <a:ext cx="54864" cy="29260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8" name="Text 42"/>
          <p:cNvSpPr/>
          <p:nvPr/>
        </p:nvSpPr>
        <p:spPr>
          <a:xfrm>
            <a:off x="822960" y="6208776"/>
            <a:ext cx="491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human distribution across AOIs</a:t>
            </a:r>
            <a:endParaRPr lang="en-US" sz="950" dirty="0"/>
          </a:p>
        </p:txBody>
      </p:sp>
      <p:sp>
        <p:nvSpPr>
          <p:cNvPr id="49" name="Shape 43"/>
          <p:cNvSpPr/>
          <p:nvPr/>
        </p:nvSpPr>
        <p:spPr>
          <a:xfrm>
            <a:off x="6233008" y="3931920"/>
            <a:ext cx="5501488" cy="2651760"/>
          </a:xfrm>
          <a:prstGeom prst="roundRect">
            <a:avLst>
              <a:gd name="adj" fmla="val 2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50" name="Shape 44"/>
          <p:cNvSpPr/>
          <p:nvPr/>
        </p:nvSpPr>
        <p:spPr>
          <a:xfrm>
            <a:off x="6397600" y="4078224"/>
            <a:ext cx="329184" cy="329184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51" name="Text 45"/>
          <p:cNvSpPr/>
          <p:nvPr/>
        </p:nvSpPr>
        <p:spPr>
          <a:xfrm>
            <a:off x="6397600" y="40782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2" name="Text 46"/>
          <p:cNvSpPr/>
          <p:nvPr/>
        </p:nvSpPr>
        <p:spPr>
          <a:xfrm>
            <a:off x="6818224" y="4050792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Probability Distribution</a:t>
            </a:r>
            <a:endParaRPr lang="en-US" sz="1450" dirty="0"/>
          </a:p>
        </p:txBody>
      </p:sp>
      <p:sp>
        <p:nvSpPr>
          <p:cNvPr id="53" name="Text 47"/>
          <p:cNvSpPr/>
          <p:nvPr/>
        </p:nvSpPr>
        <p:spPr>
          <a:xfrm>
            <a:off x="6434176" y="4498848"/>
            <a:ext cx="242065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sentence incrementally; stop at the same prediction window</a:t>
            </a:r>
            <a:endParaRPr lang="en-US" sz="950" dirty="0"/>
          </a:p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probability distribution, surprisal &amp; entropy</a:t>
            </a:r>
            <a:endParaRPr lang="en-US" sz="950" dirty="0"/>
          </a:p>
        </p:txBody>
      </p:sp>
      <p:graphicFrame>
        <p:nvGraphicFramePr>
          <p:cNvPr id="54" name="Chart 1" descr=""/>
          <p:cNvGraphicFramePr/>
          <p:nvPr/>
        </p:nvGraphicFramePr>
        <p:xfrm>
          <a:off x="8763692" y="4434840"/>
          <a:ext cx="1870506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5" name="Text 48"/>
          <p:cNvSpPr/>
          <p:nvPr/>
        </p:nvSpPr>
        <p:spPr>
          <a:xfrm>
            <a:off x="10744227" y="4498848"/>
            <a:ext cx="12002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Surprisal
</a:t>
            </a:r>
            <a:endParaRPr lang="en-US" sz="9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</a:t>
            </a:r>
            <a:endParaRPr lang="en-US" sz="900" dirty="0"/>
          </a:p>
        </p:txBody>
      </p:sp>
      <p:sp>
        <p:nvSpPr>
          <p:cNvPr id="56" name="Text 49"/>
          <p:cNvSpPr/>
          <p:nvPr/>
        </p:nvSpPr>
        <p:spPr>
          <a:xfrm>
            <a:off x="10744227" y="5257800"/>
            <a:ext cx="12002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
</a:t>
            </a:r>
            <a:endParaRPr lang="en-US" sz="9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</a:t>
            </a:r>
            <a:endParaRPr lang="en-US" sz="900" dirty="0"/>
          </a:p>
        </p:txBody>
      </p:sp>
      <p:sp>
        <p:nvSpPr>
          <p:cNvPr id="57" name="Shape 50"/>
          <p:cNvSpPr/>
          <p:nvPr/>
        </p:nvSpPr>
        <p:spPr>
          <a:xfrm>
            <a:off x="6434176" y="6236208"/>
            <a:ext cx="54864" cy="29260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8" name="Text 51"/>
          <p:cNvSpPr/>
          <p:nvPr/>
        </p:nvSpPr>
        <p:spPr>
          <a:xfrm>
            <a:off x="6598768" y="6208776"/>
            <a:ext cx="49162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probability distribution and metrics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420624"/>
            <a:ext cx="219456" cy="2194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56032"/>
            <a:ext cx="9601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Human–LLM Alignment Analysis Pipeline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1005840" y="621792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of 2 · Analyzing, testing, and interpreting alignment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1005840"/>
            <a:ext cx="5501488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" y="1152144"/>
            <a:ext cx="329184" cy="32918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621792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42416" y="1124712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58368" y="1554480"/>
            <a:ext cx="5099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Human: AOI probability &amp; average gaze behavior over time</a:t>
            </a:r>
            <a:endParaRPr lang="en-US" sz="950" dirty="0"/>
          </a:p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LLM: probability evolution, surprisal, and entropy over time</a:t>
            </a:r>
            <a:endParaRPr lang="en-US" sz="95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58368" y="2240280"/>
          <a:ext cx="5099152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hape 8"/>
          <p:cNvSpPr/>
          <p:nvPr/>
        </p:nvSpPr>
        <p:spPr>
          <a:xfrm>
            <a:off x="6233008" y="1005840"/>
            <a:ext cx="5501488" cy="2788920"/>
          </a:xfrm>
          <a:prstGeom prst="roundRect">
            <a:avLst>
              <a:gd name="adj" fmla="val 22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7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397600" y="1152144"/>
            <a:ext cx="329184" cy="32918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4" name="Text 10"/>
          <p:cNvSpPr/>
          <p:nvPr/>
        </p:nvSpPr>
        <p:spPr>
          <a:xfrm>
            <a:off x="6397600" y="1152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818224" y="1124712"/>
            <a:ext cx="4724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Analysis: Alignment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434176" y="1554480"/>
            <a:ext cx="50991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Jensen–Shannon Divergence quantifies distributional distance</a:t>
            </a:r>
            <a:endParaRPr lang="en-US" sz="950" dirty="0"/>
          </a:p>
          <a:p>
            <a:pPr marL="127000" indent="-1270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correlation, mixed-effects regression, and time-resolved JSD support the primary result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34176" y="2423160"/>
            <a:ext cx="2366696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571336" y="2551176"/>
            <a:ext cx="2092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JSD (Human vs LLM)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571336" y="2862072"/>
            <a:ext cx="209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0.087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6571336" y="3337560"/>
            <a:ext cx="2092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closer alignment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9166631" y="2423160"/>
            <a:ext cx="2366696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9303791" y="2551176"/>
            <a:ext cx="2092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ρ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9303791" y="2862072"/>
            <a:ext cx="209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2600" dirty="0"/>
          </a:p>
        </p:txBody>
      </p:sp>
      <p:sp>
        <p:nvSpPr>
          <p:cNvPr id="24" name="Text 20"/>
          <p:cNvSpPr/>
          <p:nvPr/>
        </p:nvSpPr>
        <p:spPr>
          <a:xfrm>
            <a:off x="9303791" y="3337560"/>
            <a:ext cx="20923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vs LLM probability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457200" y="4069080"/>
            <a:ext cx="11277295" cy="2514600"/>
          </a:xfrm>
          <a:prstGeom prst="roundRect">
            <a:avLst>
              <a:gd name="adj" fmla="val 2545"/>
            </a:avLst>
          </a:prstGeom>
          <a:solidFill>
            <a:srgbClr val="1E2761"/>
          </a:solidFill>
          <a:ln/>
        </p:spPr>
      </p:sp>
      <p:sp>
        <p:nvSpPr>
          <p:cNvPr id="26" name="Shape 22"/>
          <p:cNvSpPr/>
          <p:nvPr/>
        </p:nvSpPr>
        <p:spPr>
          <a:xfrm>
            <a:off x="658368" y="42519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3"/>
          <p:cNvSpPr/>
          <p:nvPr/>
        </p:nvSpPr>
        <p:spPr>
          <a:xfrm>
            <a:off x="658368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1143000" y="4215384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&amp; Conclusion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731520" y="4727448"/>
            <a:ext cx="5120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alignment results and what differences reveal about incremental language understanding</a:t>
            </a:r>
            <a:endParaRPr lang="en-US" sz="1050" dirty="0"/>
          </a:p>
          <a:p>
            <a:pPr marL="127000" indent="-127000">
              <a:lnSpc>
                <a:spcPct val="110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conclusions and report findings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7482535" y="4823460"/>
            <a:ext cx="1005840" cy="1005840"/>
          </a:xfrm>
          <a:prstGeom prst="ellipse">
            <a:avLst/>
          </a:prstGeom>
          <a:solidFill>
            <a:srgbClr val="2A3670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6271" y="4997196"/>
            <a:ext cx="658368" cy="658368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8991295" y="4823460"/>
            <a:ext cx="1005840" cy="1005840"/>
          </a:xfrm>
          <a:prstGeom prst="ellipse">
            <a:avLst/>
          </a:prstGeom>
          <a:solidFill>
            <a:srgbClr val="2A3670"/>
          </a:solidFill>
          <a:ln/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5031" y="4997196"/>
            <a:ext cx="658368" cy="65836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8488375" y="5326380"/>
            <a:ext cx="777240" cy="0"/>
          </a:xfrm>
          <a:prstGeom prst="line">
            <a:avLst/>
          </a:prstGeom>
          <a:noFill/>
          <a:ln w="22225">
            <a:solidFill>
              <a:srgbClr val="0D948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391095" y="58750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gaze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8899855" y="58750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predictions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6080760" y="4233672"/>
            <a:ext cx="36576" cy="2185416"/>
          </a:xfrm>
          <a:prstGeom prst="rect">
            <a:avLst/>
          </a:prstGeom>
          <a:solidFill>
            <a:srgbClr val="394487"/>
          </a:solidFill>
          <a:ln/>
        </p:spPr>
      </p:sp>
      <p:sp>
        <p:nvSpPr>
          <p:cNvPr id="38" name="Text 32"/>
          <p:cNvSpPr/>
          <p:nvPr/>
        </p:nvSpPr>
        <p:spPr>
          <a:xfrm>
            <a:off x="6263640" y="4617720"/>
            <a:ext cx="2224735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5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research question: Do LLM predictions resemble human anticipatory gaze behaviour?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Human-LLM Alignment Analysis Pipeline</dc:title>
  <dc:subject>PptxGenJS Presentation</dc:subject>
  <dc:creator>Claude</dc:creator>
  <cp:lastModifiedBy>Claude</cp:lastModifiedBy>
  <cp:revision>1</cp:revision>
  <dcterms:created xsi:type="dcterms:W3CDTF">2026-07-07T18:23:53Z</dcterms:created>
  <dcterms:modified xsi:type="dcterms:W3CDTF">2026-07-07T18:23:53Z</dcterms:modified>
</cp:coreProperties>
</file>