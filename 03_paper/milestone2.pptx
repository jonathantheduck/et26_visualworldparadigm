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Milestone 2: Experimental Design and Paradigm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8DADC"/>
                </a:solidFill>
              </a:rPr>
              <a:t>Research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Are the prediction probabilities of Large Language Models on subsequent references similarly distributed to probabilities estimated with human anticipatory eye movements in a Visual World Paradigm?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</a:rPr>
              <a:t>Experimental Procedure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5603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Fixation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Cross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73352" y="2948940"/>
            <a:ext cx="265176" cy="0"/>
          </a:xfrm>
          <a:prstGeom prst="line">
            <a:avLst/>
          </a:prstGeom>
          <a:noFill/>
          <a:ln w="19050">
            <a:solidFill>
              <a:srgbClr val="6B8F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65960" y="25603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Image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Audio Onset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64992" y="2948940"/>
            <a:ext cx="265176" cy="0"/>
          </a:xfrm>
          <a:prstGeom prst="line">
            <a:avLst/>
          </a:prstGeom>
          <a:noFill/>
          <a:ln w="19050">
            <a:solidFill>
              <a:srgbClr val="6B8F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25603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B8C0E8"/>
          </a:solidFill>
          <a:ln w="12700">
            <a:solidFill>
              <a:srgbClr val="B8C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A4B"/>
                </a:solidFill>
              </a:rPr>
              <a:t>Verb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3A4B"/>
                </a:solidFill>
              </a:rPr>
              <a:t>Onset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56632" y="2948940"/>
            <a:ext cx="265176" cy="0"/>
          </a:xfrm>
          <a:prstGeom prst="line">
            <a:avLst/>
          </a:prstGeom>
          <a:noFill/>
          <a:ln w="19050">
            <a:solidFill>
              <a:srgbClr val="6B8F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49240" y="25603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B8C0E8"/>
          </a:solidFill>
          <a:ln w="12700">
            <a:solidFill>
              <a:srgbClr val="B8C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A4B"/>
                </a:solidFill>
              </a:rPr>
              <a:t>Noun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3A4B"/>
                </a:solidFill>
              </a:rPr>
              <a:t>Onset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48272" y="2948940"/>
            <a:ext cx="265176" cy="0"/>
          </a:xfrm>
          <a:prstGeom prst="line">
            <a:avLst/>
          </a:prstGeom>
          <a:noFill/>
          <a:ln w="19050">
            <a:solidFill>
              <a:srgbClr val="6B8F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40880" y="25603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Button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92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Participant fixates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center dot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3392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Scene appears,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sentence plays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0" y="3392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Analysis window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begins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49240" y="3392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Analysis window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ends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40880" y="3392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Next trial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0"/>
                </a:solidFill>
              </a:rPr>
              <a:t>begins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0" y="3904488"/>
            <a:ext cx="306324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657600" y="3977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4A261"/>
                </a:solidFill>
              </a:rPr>
              <a:t>← Eye-tracking analysis window 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ADC"/>
                </a:solidFill>
              </a:rPr>
              <a:t>The Eyeconics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Conditions, Balancing &amp; Stimuli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</a:rPr>
              <a:t>Conditions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5087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Levels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Within / Between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81912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5087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3A4B"/>
                          </a:solidFill>
                        </a:rPr>
                        <a:t>Verb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3A4B"/>
                          </a:solidFill>
                        </a:rPr>
                        <a:t>Restrictiveness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3A4B"/>
                          </a:solidFill>
                        </a:rPr>
                        <a:t>Restrictive,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3A4B"/>
                          </a:solidFill>
                        </a:rPr>
                        <a:t>Non-restrictive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3A4B"/>
                          </a:solidFill>
                        </a:rPr>
                        <a:t>Within-subjects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1965960"/>
            <a:ext cx="4114800" cy="658368"/>
          </a:xfrm>
          <a:prstGeom prst="rect">
            <a:avLst/>
          </a:prstGeom>
          <a:solidFill>
            <a:srgbClr val="A8DADC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9933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</a:rPr>
              <a:t>Restrictive: </a:t>
            </a:r>
            <a:pPr indent="0" marL="0">
              <a:buNone/>
            </a:pPr>
            <a:r>
              <a:rPr lang="en-US" sz="1000" dirty="0">
                <a:solidFill>
                  <a:srgbClr val="2F4858"/>
                </a:solidFill>
              </a:rPr>
              <a:t>verb strongly predicts the target noun  </a:t>
            </a:r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e.g. "eat"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</a:rPr>
              <a:t>Non-restrictive: </a:t>
            </a:r>
            <a:pPr indent="0" marL="0">
              <a:buNone/>
            </a:pPr>
            <a:r>
              <a:rPr lang="en-US" sz="1000" dirty="0">
                <a:solidFill>
                  <a:srgbClr val="2F4858"/>
                </a:solidFill>
              </a:rPr>
              <a:t>verb is ambiguous / neutral  </a:t>
            </a:r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e.g. "move"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7432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</a:rPr>
              <a:t>Balancing &amp; Randomization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74320" y="3127248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8DA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4048" y="3127248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Balancing (position bias): </a:t>
            </a:r>
            <a:pPr indent="0" marL="0">
              <a:buNone/>
            </a:pPr>
            <a:r>
              <a:rPr lang="en-US" sz="950" dirty="0">
                <a:solidFill>
                  <a:srgbClr val="2F4858"/>
                </a:solidFill>
              </a:rPr>
              <a:t> Target object appears in different screen positions across trials to counteract left-side reading bias.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374904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8DA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374904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Randomization (trial order): </a:t>
            </a:r>
            <a:pPr indent="0" marL="0">
              <a:buNone/>
            </a:pPr>
            <a:r>
              <a:rPr lang="en-US" sz="950" dirty="0">
                <a:solidFill>
                  <a:srgbClr val="2F4858"/>
                </a:solidFill>
              </a:rPr>
              <a:t> Each participant hears 50 sentences (25 restrictive + 25 non-restrictive) in a pseudo-random order — no block of same-condition trials.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6344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</a:rPr>
              <a:t>Stimuli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23444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060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 audio sentences  </a:t>
            </a:r>
            <a:pPr algn="ctr" indent="0" marL="0">
              <a:buNone/>
            </a:pPr>
            <a:r>
              <a:rPr lang="en-US" sz="1050" dirty="0">
                <a:solidFill>
                  <a:srgbClr val="A8DADC"/>
                </a:solidFill>
              </a:rPr>
              <a:t>(25 restrictive + 25 non-restrictive)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63440" y="1810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858"/>
                </a:solidFill>
              </a:rPr>
              <a:t>Each trial pairs one audio sentence with one scene image.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63440" y="2148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</a:rPr>
              <a:t>Example stimulus pair: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2423160"/>
            <a:ext cx="4206240" cy="2450592"/>
          </a:xfrm>
          <a:prstGeom prst="rect">
            <a:avLst/>
          </a:prstGeom>
          <a:solidFill>
            <a:srgbClr val="FFFFFF"/>
          </a:solidFill>
          <a:ln w="15240">
            <a:solidFill>
              <a:srgbClr val="A8DA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2423160"/>
            <a:ext cx="42062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DADC"/>
                </a:solidFill>
              </a:rPr>
              <a:t>🔊  Audio Stimulus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773168" y="271576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Restrictive:  </a:t>
            </a:r>
            <a:pPr indent="0" marL="0">
              <a:buNone/>
            </a:pPr>
            <a:r>
              <a:rPr lang="en-US" sz="1000" dirty="0">
                <a:solidFill>
                  <a:srgbClr val="2F4858"/>
                </a:solidFill>
              </a:rPr>
              <a:t>"The woman will </a:t>
            </a:r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read</a:t>
            </a:r>
            <a:pPr indent="0" marL="0">
              <a:buNone/>
            </a:pPr>
            <a:r>
              <a:rPr lang="en-US" sz="1000" dirty="0">
                <a:solidFill>
                  <a:srgbClr val="2F4858"/>
                </a:solidFill>
              </a:rPr>
              <a:t> the book."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73168" y="299008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4858"/>
                </a:solidFill>
              </a:rPr>
              <a:t>Non-restrictive:  </a:t>
            </a:r>
            <a:pPr indent="0" marL="0">
              <a:buNone/>
            </a:pPr>
            <a:r>
              <a:rPr lang="en-US" sz="1000" dirty="0">
                <a:solidFill>
                  <a:srgbClr val="2F4858"/>
                </a:solidFill>
              </a:rPr>
              <a:t>"The woman will </a:t>
            </a:r>
            <a:pPr indent="0" marL="0">
              <a:buNone/>
            </a:pPr>
            <a:r>
              <a:rPr lang="en-US" sz="1000" b="1" dirty="0">
                <a:solidFill>
                  <a:srgbClr val="6B8FA0"/>
                </a:solidFill>
              </a:rPr>
              <a:t>open</a:t>
            </a:r>
            <a:pPr indent="0" marL="0">
              <a:buNone/>
            </a:pPr>
            <a:r>
              <a:rPr lang="en-US" sz="1000" dirty="0">
                <a:solidFill>
                  <a:srgbClr val="2F4858"/>
                </a:solidFill>
              </a:rPr>
              <a:t> the book."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73168" y="3310128"/>
            <a:ext cx="3986784" cy="512064"/>
          </a:xfrm>
          <a:prstGeom prst="roundRect">
            <a:avLst>
              <a:gd name="adj" fmla="val 8929"/>
            </a:avLst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28032" y="3310128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</a:rPr>
              <a:t>⚠ Cover story: </a:t>
            </a:r>
            <a:pPr indent="0" marL="0">
              <a:buNone/>
            </a:pPr>
            <a:r>
              <a:rPr lang="en-US" sz="850" dirty="0">
                <a:solidFill>
                  <a:srgbClr val="2F4858"/>
                </a:solidFill>
              </a:rPr>
              <a:t>Participants are not informed about the restrictive/non-restrictive manipulation. A </a:t>
            </a:r>
            <a:pPr indent="0" marL="0">
              <a:buNone/>
            </a:pPr>
            <a:r>
              <a:rPr lang="en-US" sz="850" b="1" dirty="0">
                <a:solidFill>
                  <a:srgbClr val="2F4858"/>
                </a:solidFill>
              </a:rPr>
              <a:t>distractor button-press task</a:t>
            </a:r>
            <a:pPr indent="0" marL="0">
              <a:buNone/>
            </a:pPr>
            <a:r>
              <a:rPr lang="en-US" sz="850" dirty="0">
                <a:solidFill>
                  <a:srgbClr val="2F4858"/>
                </a:solidFill>
              </a:rPr>
              <a:t> at the end of each sentence keeps attention on the screen.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663440" y="3858768"/>
            <a:ext cx="4206240" cy="237744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0" y="38587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DADC"/>
                </a:solidFill>
              </a:rPr>
              <a:t>🖼  Visual Scene  (shown simultaneously)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773168" y="4133088"/>
            <a:ext cx="987552" cy="246888"/>
          </a:xfrm>
          <a:prstGeom prst="roundRect">
            <a:avLst>
              <a:gd name="adj" fmla="val 22222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73168" y="413308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woman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852160" y="4133088"/>
            <a:ext cx="987552" cy="246888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52160" y="413308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book ★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931152" y="4133088"/>
            <a:ext cx="987552" cy="246888"/>
          </a:xfrm>
          <a:prstGeom prst="roundRect">
            <a:avLst>
              <a:gd name="adj" fmla="val 22222"/>
            </a:avLst>
          </a:prstGeom>
          <a:solidFill>
            <a:srgbClr val="6B8FA0"/>
          </a:solidFill>
          <a:ln w="12700">
            <a:solidFill>
              <a:srgbClr val="6B8FA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931152" y="413308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door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773168" y="4443984"/>
            <a:ext cx="987552" cy="246888"/>
          </a:xfrm>
          <a:prstGeom prst="roundRect">
            <a:avLst>
              <a:gd name="adj" fmla="val 22222"/>
            </a:avLst>
          </a:prstGeom>
          <a:solidFill>
            <a:srgbClr val="6B8FA0"/>
          </a:solidFill>
          <a:ln w="12700">
            <a:solidFill>
              <a:srgbClr val="6B8FA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73168" y="4443984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bag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852160" y="4443984"/>
            <a:ext cx="987552" cy="246888"/>
          </a:xfrm>
          <a:prstGeom prst="roundRect">
            <a:avLst>
              <a:gd name="adj" fmla="val 22222"/>
            </a:avLst>
          </a:prstGeom>
          <a:solidFill>
            <a:srgbClr val="6B8FA0"/>
          </a:solidFill>
          <a:ln w="12700">
            <a:solidFill>
              <a:srgbClr val="6B8FA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52160" y="4443984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jar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931152" y="4443984"/>
            <a:ext cx="987552" cy="246888"/>
          </a:xfrm>
          <a:prstGeom prst="roundRect">
            <a:avLst>
              <a:gd name="adj" fmla="val 22222"/>
            </a:avLst>
          </a:prstGeom>
          <a:solidFill>
            <a:srgbClr val="6B8FA0"/>
          </a:solidFill>
          <a:ln w="12700">
            <a:solidFill>
              <a:srgbClr val="6B8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931152" y="4443984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cup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754880" y="469087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FA0"/>
                </a:solidFill>
              </a:rPr>
              <a:t>★ = target noun  |  position varies across trials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ADC"/>
                </a:solidFill>
              </a:rPr>
              <a:t>The Eyeconics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2 – Experimental Design</dc:title>
  <dc:subject>PptxGenJS Presentation</dc:subject>
  <dc:creator>PptxGenJS</dc:creator>
  <cp:lastModifiedBy>PptxGenJS</cp:lastModifiedBy>
  <cp:revision>1</cp:revision>
  <dcterms:created xsi:type="dcterms:W3CDTF">2026-05-06T19:57:35Z</dcterms:created>
  <dcterms:modified xsi:type="dcterms:W3CDTF">2026-05-06T19:57:35Z</dcterms:modified>
</cp:coreProperties>
</file>